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7121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6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548640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932688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1316736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5" name="Shape 3"/>
          <p:cNvSpPr/>
          <p:nvPr/>
        </p:nvSpPr>
        <p:spPr>
          <a:xfrm>
            <a:off x="9418320" y="1700784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6" name="Shape 4"/>
          <p:cNvSpPr/>
          <p:nvPr/>
        </p:nvSpPr>
        <p:spPr>
          <a:xfrm>
            <a:off x="9418320" y="2084832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7" name="Shape 5"/>
          <p:cNvSpPr/>
          <p:nvPr/>
        </p:nvSpPr>
        <p:spPr>
          <a:xfrm>
            <a:off x="9418320" y="2468880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8" name="Shape 6"/>
          <p:cNvSpPr/>
          <p:nvPr/>
        </p:nvSpPr>
        <p:spPr>
          <a:xfrm>
            <a:off x="9802368" y="548640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9" name="Shape 7"/>
          <p:cNvSpPr/>
          <p:nvPr/>
        </p:nvSpPr>
        <p:spPr>
          <a:xfrm>
            <a:off x="9802368" y="932688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10" name="Shape 8"/>
          <p:cNvSpPr/>
          <p:nvPr/>
        </p:nvSpPr>
        <p:spPr>
          <a:xfrm>
            <a:off x="9802368" y="1316736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11" name="Shape 9"/>
          <p:cNvSpPr/>
          <p:nvPr/>
        </p:nvSpPr>
        <p:spPr>
          <a:xfrm>
            <a:off x="9802368" y="1700784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12" name="Shape 10"/>
          <p:cNvSpPr/>
          <p:nvPr/>
        </p:nvSpPr>
        <p:spPr>
          <a:xfrm>
            <a:off x="9802368" y="2084832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13" name="Shape 11"/>
          <p:cNvSpPr/>
          <p:nvPr/>
        </p:nvSpPr>
        <p:spPr>
          <a:xfrm>
            <a:off x="9802368" y="2468880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86416" y="548640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86416" y="932688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186416" y="1316736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86416" y="1700784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86416" y="2084832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86416" y="2468880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70464" y="548640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70464" y="932688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70464" y="1316736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23" name="Shape 21"/>
          <p:cNvSpPr/>
          <p:nvPr/>
        </p:nvSpPr>
        <p:spPr>
          <a:xfrm>
            <a:off x="10570464" y="1700784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24" name="Shape 22"/>
          <p:cNvSpPr/>
          <p:nvPr/>
        </p:nvSpPr>
        <p:spPr>
          <a:xfrm>
            <a:off x="10570464" y="2084832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70464" y="2468880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54512" y="548640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54512" y="932688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28" name="Shape 26"/>
          <p:cNvSpPr/>
          <p:nvPr/>
        </p:nvSpPr>
        <p:spPr>
          <a:xfrm>
            <a:off x="10954512" y="1316736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29" name="Shape 27"/>
          <p:cNvSpPr/>
          <p:nvPr/>
        </p:nvSpPr>
        <p:spPr>
          <a:xfrm>
            <a:off x="10954512" y="1700784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54512" y="2084832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54512" y="2468880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32" name="Shape 30"/>
          <p:cNvSpPr/>
          <p:nvPr/>
        </p:nvSpPr>
        <p:spPr>
          <a:xfrm>
            <a:off x="11338560" y="548640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33" name="Shape 31"/>
          <p:cNvSpPr/>
          <p:nvPr/>
        </p:nvSpPr>
        <p:spPr>
          <a:xfrm>
            <a:off x="11338560" y="932688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34" name="Shape 32"/>
          <p:cNvSpPr/>
          <p:nvPr/>
        </p:nvSpPr>
        <p:spPr>
          <a:xfrm>
            <a:off x="11338560" y="1316736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35" name="Shape 33"/>
          <p:cNvSpPr/>
          <p:nvPr/>
        </p:nvSpPr>
        <p:spPr>
          <a:xfrm>
            <a:off x="11338560" y="1700784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36" name="Shape 34"/>
          <p:cNvSpPr/>
          <p:nvPr/>
        </p:nvSpPr>
        <p:spPr>
          <a:xfrm>
            <a:off x="11338560" y="2084832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sp>
        <p:nvSpPr>
          <p:cNvPr id="37" name="Shape 35"/>
          <p:cNvSpPr/>
          <p:nvPr/>
        </p:nvSpPr>
        <p:spPr>
          <a:xfrm>
            <a:off x="11338560" y="2468880"/>
            <a:ext cx="41148" cy="41148"/>
          </a:xfrm>
          <a:prstGeom prst="ellipse">
            <a:avLst/>
          </a:prstGeom>
          <a:solidFill>
            <a:srgbClr val="2A4468"/>
          </a:solidFill>
          <a:ln/>
        </p:spPr>
      </p:sp>
      <p:pic>
        <p:nvPicPr>
          <p:cNvPr id="38" name="Image 0" descr="/home/claude/icons/nti_logo.png"/>
          <p:cNvPicPr>
            <a:picLocks noChangeAspect="1"/>
          </p:cNvPicPr>
          <p:nvPr/>
        </p:nvPicPr>
        <p:blipFill>
          <a:blip r:embed="rId3"/>
          <a:srcRect l="4694" r="4688"/>
          <a:stretch>
            <a:fillRect/>
          </a:stretch>
        </p:blipFill>
        <p:spPr>
          <a:xfrm>
            <a:off x="0" y="0"/>
            <a:ext cx="4374332" cy="1901952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18288" y="2086562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Security &amp; Gas Leak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System</a:t>
            </a:r>
            <a:endParaRPr lang="en-US" sz="4400" dirty="0"/>
          </a:p>
        </p:txBody>
      </p:sp>
      <p:sp>
        <p:nvSpPr>
          <p:cNvPr id="41" name="Shape 38"/>
          <p:cNvSpPr/>
          <p:nvPr/>
        </p:nvSpPr>
        <p:spPr>
          <a:xfrm>
            <a:off x="474215" y="4119372"/>
            <a:ext cx="2470709" cy="512064"/>
          </a:xfrm>
          <a:prstGeom prst="roundRect">
            <a:avLst>
              <a:gd name="adj" fmla="val 50000"/>
            </a:avLst>
          </a:prstGeom>
          <a:solidFill>
            <a:srgbClr val="132C4E"/>
          </a:solidFill>
          <a:ln w="12700">
            <a:solidFill>
              <a:srgbClr val="2A4468"/>
            </a:solidFill>
            <a:prstDash val="solid"/>
          </a:ln>
        </p:spPr>
      </p:sp>
      <p:pic>
        <p:nvPicPr>
          <p:cNvPr id="42" name="Image 1" descr="/home/claude/icons/secu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913632"/>
            <a:ext cx="274320" cy="274320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839419" y="4076206"/>
            <a:ext cx="196778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Security System</a:t>
            </a:r>
            <a:endParaRPr lang="en-US" sz="1250" dirty="0"/>
          </a:p>
        </p:txBody>
      </p:sp>
      <p:sp>
        <p:nvSpPr>
          <p:cNvPr id="44" name="Shape 40"/>
          <p:cNvSpPr/>
          <p:nvPr/>
        </p:nvSpPr>
        <p:spPr>
          <a:xfrm>
            <a:off x="3251884" y="4105656"/>
            <a:ext cx="2470709" cy="512064"/>
          </a:xfrm>
          <a:prstGeom prst="roundRect">
            <a:avLst>
              <a:gd name="adj" fmla="val 50000"/>
            </a:avLst>
          </a:prstGeom>
          <a:solidFill>
            <a:srgbClr val="132C4E"/>
          </a:solidFill>
          <a:ln w="12700">
            <a:solidFill>
              <a:srgbClr val="2A4468"/>
            </a:solidFill>
            <a:prstDash val="solid"/>
          </a:ln>
        </p:spPr>
      </p:sp>
      <p:pic>
        <p:nvPicPr>
          <p:cNvPr id="45" name="Image 2" descr="/home/claude/icons/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4837" y="3913632"/>
            <a:ext cx="274320" cy="274320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3631997" y="4050792"/>
            <a:ext cx="196778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 board (node red)</a:t>
            </a:r>
            <a:endParaRPr lang="en-US" sz="1250" dirty="0"/>
          </a:p>
        </p:txBody>
      </p:sp>
      <p:sp>
        <p:nvSpPr>
          <p:cNvPr id="47" name="Shape 42"/>
          <p:cNvSpPr/>
          <p:nvPr/>
        </p:nvSpPr>
        <p:spPr>
          <a:xfrm>
            <a:off x="5929844" y="4050792"/>
            <a:ext cx="2134210" cy="512064"/>
          </a:xfrm>
          <a:prstGeom prst="roundRect">
            <a:avLst>
              <a:gd name="adj" fmla="val 50000"/>
            </a:avLst>
          </a:prstGeom>
          <a:solidFill>
            <a:srgbClr val="132C4E"/>
          </a:solidFill>
          <a:ln w="12700">
            <a:solidFill>
              <a:srgbClr val="2A4468"/>
            </a:solidFill>
            <a:prstDash val="solid"/>
          </a:ln>
        </p:spPr>
      </p:sp>
      <p:pic>
        <p:nvPicPr>
          <p:cNvPr id="48" name="Image 3" descr="/home/claude/icons/ga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5902" y="4123408"/>
            <a:ext cx="274320" cy="274320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6486754" y="4008532"/>
            <a:ext cx="163129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 Detector</a:t>
            </a:r>
            <a:endParaRPr lang="en-US" sz="1250" dirty="0"/>
          </a:p>
        </p:txBody>
      </p:sp>
      <p:sp>
        <p:nvSpPr>
          <p:cNvPr id="51" name="Shape 45"/>
          <p:cNvSpPr/>
          <p:nvPr/>
        </p:nvSpPr>
        <p:spPr>
          <a:xfrm>
            <a:off x="685800" y="4956048"/>
            <a:ext cx="1645920" cy="566928"/>
          </a:xfrm>
          <a:prstGeom prst="roundRect">
            <a:avLst>
              <a:gd name="adj" fmla="val 16129"/>
            </a:avLst>
          </a:prstGeom>
          <a:solidFill>
            <a:srgbClr val="112648"/>
          </a:solidFill>
          <a:ln w="12700">
            <a:solidFill>
              <a:srgbClr val="24406A"/>
            </a:solidFill>
            <a:prstDash val="solid"/>
          </a:ln>
        </p:spPr>
      </p:sp>
      <p:sp>
        <p:nvSpPr>
          <p:cNvPr id="52" name="Shape 46"/>
          <p:cNvSpPr/>
          <p:nvPr/>
        </p:nvSpPr>
        <p:spPr>
          <a:xfrm>
            <a:off x="804672" y="5065776"/>
            <a:ext cx="347472" cy="347472"/>
          </a:xfrm>
          <a:prstGeom prst="ellipse">
            <a:avLst/>
          </a:prstGeom>
          <a:solidFill>
            <a:srgbClr val="1B3B66"/>
          </a:solidFill>
          <a:ln/>
        </p:spPr>
      </p:sp>
      <p:pic>
        <p:nvPicPr>
          <p:cNvPr id="53" name="Image 4" descr="/home/claude/icons/rad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853" y="5143957"/>
            <a:ext cx="191110" cy="191110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1216152" y="495604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Motion</a:t>
            </a:r>
            <a:endParaRPr lang="en-US" sz="1200" dirty="0"/>
          </a:p>
        </p:txBody>
      </p:sp>
      <p:sp>
        <p:nvSpPr>
          <p:cNvPr id="55" name="Shape 48"/>
          <p:cNvSpPr/>
          <p:nvPr/>
        </p:nvSpPr>
        <p:spPr>
          <a:xfrm>
            <a:off x="2514600" y="4956048"/>
            <a:ext cx="2011680" cy="566928"/>
          </a:xfrm>
          <a:prstGeom prst="roundRect">
            <a:avLst>
              <a:gd name="adj" fmla="val 16129"/>
            </a:avLst>
          </a:prstGeom>
          <a:solidFill>
            <a:srgbClr val="112648"/>
          </a:solidFill>
          <a:ln w="12700">
            <a:solidFill>
              <a:srgbClr val="24406A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2633472" y="5065776"/>
            <a:ext cx="347472" cy="347472"/>
          </a:xfrm>
          <a:prstGeom prst="ellipse">
            <a:avLst/>
          </a:prstGeom>
          <a:solidFill>
            <a:srgbClr val="1B3B66"/>
          </a:solidFill>
          <a:ln/>
        </p:spPr>
      </p:sp>
      <p:pic>
        <p:nvPicPr>
          <p:cNvPr id="57" name="Image 5" descr="/home/claude/icons/ga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1653" y="5143957"/>
            <a:ext cx="191110" cy="191110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3044952" y="495604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MQ2 Gs Sensor</a:t>
            </a:r>
            <a:endParaRPr lang="en-US" sz="1200" dirty="0"/>
          </a:p>
        </p:txBody>
      </p:sp>
      <p:sp>
        <p:nvSpPr>
          <p:cNvPr id="63" name="Shape 54"/>
          <p:cNvSpPr/>
          <p:nvPr/>
        </p:nvSpPr>
        <p:spPr>
          <a:xfrm>
            <a:off x="8620964" y="1901952"/>
            <a:ext cx="2885236" cy="2715768"/>
          </a:xfrm>
          <a:prstGeom prst="ellipse">
            <a:avLst/>
          </a:prstGeom>
          <a:solidFill>
            <a:srgbClr val="132C4E"/>
          </a:solidFill>
          <a:ln w="19050">
            <a:solidFill>
              <a:srgbClr val="24406A"/>
            </a:solidFill>
            <a:prstDash val="solid"/>
          </a:ln>
        </p:spPr>
      </p:sp>
      <p:sp>
        <p:nvSpPr>
          <p:cNvPr id="64" name="Shape 55"/>
          <p:cNvSpPr/>
          <p:nvPr/>
        </p:nvSpPr>
        <p:spPr>
          <a:xfrm>
            <a:off x="9154974" y="2335900"/>
            <a:ext cx="1737360" cy="1737360"/>
          </a:xfrm>
          <a:prstGeom prst="ellipse">
            <a:avLst/>
          </a:prstGeom>
          <a:solidFill>
            <a:srgbClr val="112648"/>
          </a:solidFill>
          <a:ln/>
        </p:spPr>
      </p:sp>
      <p:sp>
        <p:nvSpPr>
          <p:cNvPr id="65" name="Shape 56"/>
          <p:cNvSpPr/>
          <p:nvPr/>
        </p:nvSpPr>
        <p:spPr>
          <a:xfrm>
            <a:off x="9541764" y="2688460"/>
            <a:ext cx="1005840" cy="1005840"/>
          </a:xfrm>
          <a:prstGeom prst="ellipse">
            <a:avLst/>
          </a:prstGeom>
          <a:solidFill>
            <a:srgbClr val="00B5A3"/>
          </a:solidFill>
          <a:ln/>
        </p:spPr>
      </p:sp>
      <p:pic>
        <p:nvPicPr>
          <p:cNvPr id="66" name="Image 7" descr="/home/claude/icons/secu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8078" y="2708910"/>
            <a:ext cx="553212" cy="553212"/>
          </a:xfrm>
          <a:prstGeom prst="rect">
            <a:avLst/>
          </a:prstGeom>
        </p:spPr>
      </p:pic>
      <p:sp>
        <p:nvSpPr>
          <p:cNvPr id="68" name="Text 5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hardware powering both detection systems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1016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88820"/>
            <a:ext cx="777240" cy="777240"/>
          </a:xfrm>
          <a:prstGeom prst="ellipse">
            <a:avLst/>
          </a:prstGeom>
          <a:solidFill>
            <a:srgbClr val="00B5A3"/>
          </a:solidFill>
          <a:ln/>
        </p:spPr>
      </p:sp>
      <p:pic>
        <p:nvPicPr>
          <p:cNvPr id="6" name="Image 0" descr="/home/claude/icons/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21753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83794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PIR Motion Sensor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74520" y="2295144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movement within the protected zone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1016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6112" y="3497580"/>
            <a:ext cx="777240" cy="777240"/>
          </a:xfrm>
          <a:prstGeom prst="ellipse">
            <a:avLst/>
          </a:prstGeom>
          <a:solidFill>
            <a:srgbClr val="E8562E"/>
          </a:solidFill>
          <a:ln/>
        </p:spPr>
      </p:sp>
      <p:pic>
        <p:nvPicPr>
          <p:cNvPr id="11" name="Image 1" descr="/home/claude/icons/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650" y="368411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33467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LED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874520" y="3803904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indicator when motion is detected and the system is armed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70916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1016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5006340"/>
            <a:ext cx="777240" cy="7772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6" name="Image 2" descr="/home/claude/icons/ch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650" y="519287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85546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 Microcontroller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74520" y="5312664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control unit; connects all sensors to the network via Wi-Fi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0" y="2295144"/>
            <a:ext cx="4708550" cy="3307460"/>
          </a:xfrm>
          <a:prstGeom prst="roundRect">
            <a:avLst>
              <a:gd name="adj" fmla="val 7904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127000" dist="38100" dir="5400000" algn="bl" rotWithShape="0">
              <a:srgbClr val="1B2A44">
                <a:alpha val="12000"/>
              </a:srgbClr>
            </a:outerShdw>
          </a:effectLst>
        </p:spPr>
      </p:sp>
      <p:pic>
        <p:nvPicPr>
          <p:cNvPr id="20" name="Image 3" descr="/home/claude/icons/esp32_pir_wiring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261236"/>
            <a:ext cx="4846320" cy="33413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SECURITY &amp; GAS LEAK DETECTION SYSTEM</a:t>
            </a:r>
            <a:endParaRPr lang="en-US" sz="800" dirty="0"/>
          </a:p>
        </p:txBody>
      </p:sp>
      <p:sp>
        <p:nvSpPr>
          <p:cNvPr id="22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1230651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integrated systems operating over the MQTT protocol using Node-RED as a dashboard and control interface — enabling remote motion monitoring with alert control, and real-time gas leak detection with immediate response.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24840" y="2224216"/>
            <a:ext cx="5225261" cy="3993704"/>
          </a:xfrm>
          <a:prstGeom prst="roundRect">
            <a:avLst>
              <a:gd name="adj" fmla="val 1978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377440"/>
            <a:ext cx="566928" cy="566928"/>
          </a:xfrm>
          <a:prstGeom prst="ellipse">
            <a:avLst/>
          </a:prstGeom>
          <a:solidFill>
            <a:srgbClr val="00B5A3"/>
          </a:solidFill>
          <a:ln/>
        </p:spPr>
      </p:sp>
      <p:pic>
        <p:nvPicPr>
          <p:cNvPr id="6" name="Image 0" descr="/home/claude/icons/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679" y="2504999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37744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Security System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60120" y="3246120"/>
            <a:ext cx="420624" cy="420624"/>
          </a:xfrm>
          <a:prstGeom prst="ellipse">
            <a:avLst/>
          </a:prstGeom>
          <a:solidFill>
            <a:srgbClr val="1B3B66"/>
          </a:solidFill>
          <a:ln/>
        </p:spPr>
      </p:sp>
      <p:pic>
        <p:nvPicPr>
          <p:cNvPr id="9" name="Image 1" descr="/home/claude/icons/publi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760" y="3340760"/>
            <a:ext cx="231343" cy="231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3191256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sensor detects motion and publishes "Motion Detected" to the broker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960120" y="4206240"/>
            <a:ext cx="420624" cy="420624"/>
          </a:xfrm>
          <a:prstGeom prst="ellipse">
            <a:avLst/>
          </a:prstGeom>
          <a:solidFill>
            <a:srgbClr val="1B3B66"/>
          </a:solidFill>
          <a:ln/>
        </p:spPr>
      </p:sp>
      <p:pic>
        <p:nvPicPr>
          <p:cNvPr id="12" name="Image 2" descr="/home/claude/icons/remo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760" y="4300880"/>
            <a:ext cx="231343" cy="231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4151376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/ DISARM commands received remotely from the Node-RED dashboard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960120" y="5166360"/>
            <a:ext cx="420624" cy="420624"/>
          </a:xfrm>
          <a:prstGeom prst="ellipse">
            <a:avLst/>
          </a:prstGeom>
          <a:solidFill>
            <a:srgbClr val="1B3B66"/>
          </a:solidFill>
          <a:ln/>
        </p:spPr>
      </p:sp>
      <p:pic>
        <p:nvPicPr>
          <p:cNvPr id="15" name="Image 3" descr="/home/claude/icons/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760" y="5261000"/>
            <a:ext cx="231343" cy="23134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54480" y="5111496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activates only when the system is Armed and motion is detected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400800" y="2468880"/>
            <a:ext cx="4937760" cy="3370987"/>
          </a:xfrm>
          <a:prstGeom prst="roundRect">
            <a:avLst>
              <a:gd name="adj" fmla="val 5344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127000" dist="38100" dir="5400000" algn="bl" rotWithShape="0">
              <a:srgbClr val="1B2A44">
                <a:alpha val="12000"/>
              </a:srgbClr>
            </a:outerShdw>
          </a:effectLst>
        </p:spPr>
      </p:sp>
      <p:pic>
        <p:nvPicPr>
          <p:cNvPr id="18" name="Image 4" descr="/home/claude/icons/esp32_pir_wiring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2435454"/>
            <a:ext cx="4937760" cy="340441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MQTT Protocol — Security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 acts simultaneously as a Subscriber (receiving ARM/DISARM commands from the Node-RED dashboard) and as a Publisher (broadcasting motion status and triggering the alarm), enabling real-time remote monitoring from anywhere.</a:t>
            </a:r>
            <a:endParaRPr lang="en-US" sz="1300" dirty="0"/>
          </a:p>
        </p:txBody>
      </p:sp>
      <p:pic>
        <p:nvPicPr>
          <p:cNvPr id="4" name="Image 0" descr="/home/claude/icons/esp32_wifi_i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868680"/>
            <a:ext cx="1600200" cy="1600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219456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21945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26280" y="21945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903720" y="21945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108813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74320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sensor/alarm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26280" y="288036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00B5A3"/>
          </a:solidFill>
          <a:ln/>
        </p:spPr>
      </p:sp>
      <p:sp>
        <p:nvSpPr>
          <p:cNvPr id="12" name="Text 9"/>
          <p:cNvSpPr/>
          <p:nvPr/>
        </p:nvSpPr>
        <p:spPr>
          <a:xfrm>
            <a:off x="4526280" y="28803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903720" y="274320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Arm/disarm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3364992"/>
            <a:ext cx="10881360" cy="777240"/>
          </a:xfrm>
          <a:prstGeom prst="rect">
            <a:avLst/>
          </a:prstGeom>
          <a:solidFill>
            <a:srgbClr val="EFF3F8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3364992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sensor/status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26280" y="3579876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8562E"/>
          </a:solidFill>
          <a:ln/>
        </p:spPr>
      </p:sp>
      <p:sp>
        <p:nvSpPr>
          <p:cNvPr id="17" name="Text 14"/>
          <p:cNvSpPr/>
          <p:nvPr/>
        </p:nvSpPr>
        <p:spPr>
          <a:xfrm>
            <a:off x="4526280" y="357987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903720" y="3364992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detected/system off/no motion detected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0080" y="4142232"/>
            <a:ext cx="108813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142232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sensor/info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26280" y="4279392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8562E"/>
          </a:solidFill>
          <a:ln/>
        </p:spPr>
      </p:sp>
      <p:sp>
        <p:nvSpPr>
          <p:cNvPr id="22" name="Text 19"/>
          <p:cNvSpPr/>
          <p:nvPr/>
        </p:nvSpPr>
        <p:spPr>
          <a:xfrm>
            <a:off x="4526280" y="427939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903720" y="4142232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armed /disarmed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Motion Detection Workflow</a:t>
            </a:r>
            <a:endParaRPr lang="en-US" sz="3000" dirty="0"/>
          </a:p>
        </p:txBody>
      </p:sp>
      <p:pic>
        <p:nvPicPr>
          <p:cNvPr id="3" name="Image 0" descr="/home/claude/icons/lock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384048"/>
            <a:ext cx="685800" cy="685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417320"/>
            <a:ext cx="257860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1016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22960" y="1527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DE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532888" y="1581912"/>
            <a:ext cx="502920" cy="502920"/>
          </a:xfrm>
          <a:prstGeom prst="ellipse">
            <a:avLst/>
          </a:prstGeom>
          <a:solidFill>
            <a:srgbClr val="00B5A3"/>
          </a:solidFill>
          <a:ln/>
        </p:spPr>
      </p:sp>
      <p:pic>
        <p:nvPicPr>
          <p:cNvPr id="7" name="Image 1" descr="/home/claude/icons/ra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6045" y="1695069"/>
            <a:ext cx="276606" cy="2766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219456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PIR Detects Motion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822960" y="2715768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is triggered — Motion Sensor Triggered</a:t>
            </a:r>
            <a:endParaRPr lang="en-US" sz="1150" dirty="0"/>
          </a:p>
        </p:txBody>
      </p:sp>
      <p:pic>
        <p:nvPicPr>
          <p:cNvPr id="10" name="Image 2" descr="/home/claude/icons/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6976" y="2482596"/>
            <a:ext cx="182880" cy="2011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438144" y="1417320"/>
            <a:ext cx="257860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1016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3621024" y="1527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DE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5330952" y="1581912"/>
            <a:ext cx="502920" cy="502920"/>
          </a:xfrm>
          <a:prstGeom prst="ellipse">
            <a:avLst/>
          </a:prstGeom>
          <a:solidFill>
            <a:srgbClr val="00B5A3"/>
          </a:solidFill>
          <a:ln/>
        </p:spPr>
      </p:sp>
      <p:pic>
        <p:nvPicPr>
          <p:cNvPr id="14" name="Image 3" descr="/home/claude/icons/publi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4109" y="1695069"/>
            <a:ext cx="276606" cy="27660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21024" y="219456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Message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3621024" y="2715768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publishes "Motion Detected" to the broker</a:t>
            </a:r>
            <a:endParaRPr lang="en-US" sz="1150" dirty="0"/>
          </a:p>
        </p:txBody>
      </p:sp>
      <p:pic>
        <p:nvPicPr>
          <p:cNvPr id="17" name="Image 4" descr="/home/claude/icons/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2482596"/>
            <a:ext cx="182880" cy="201168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236208" y="1417320"/>
            <a:ext cx="257860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1016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19" name="Text 12"/>
          <p:cNvSpPr/>
          <p:nvPr/>
        </p:nvSpPr>
        <p:spPr>
          <a:xfrm>
            <a:off x="6419088" y="1527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DE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8129016" y="1581912"/>
            <a:ext cx="502920" cy="502920"/>
          </a:xfrm>
          <a:prstGeom prst="ellipse">
            <a:avLst/>
          </a:prstGeom>
          <a:solidFill>
            <a:srgbClr val="00B5A3"/>
          </a:solidFill>
          <a:ln/>
        </p:spPr>
      </p:sp>
      <p:pic>
        <p:nvPicPr>
          <p:cNvPr id="21" name="Image 5" descr="/home/claude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2173" y="1695069"/>
            <a:ext cx="276606" cy="27660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419088" y="219456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Check</a:t>
            </a:r>
            <a:endParaRPr lang="en-US" sz="1450" dirty="0"/>
          </a:p>
        </p:txBody>
      </p:sp>
      <p:sp>
        <p:nvSpPr>
          <p:cNvPr id="23" name="Text 15"/>
          <p:cNvSpPr/>
          <p:nvPr/>
        </p:nvSpPr>
        <p:spPr>
          <a:xfrm>
            <a:off x="6419088" y="2715768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evaluates: Is the system Armed?</a:t>
            </a:r>
            <a:endParaRPr lang="en-US" sz="1150" dirty="0"/>
          </a:p>
        </p:txBody>
      </p:sp>
      <p:pic>
        <p:nvPicPr>
          <p:cNvPr id="24" name="Image 6" descr="/home/claude/icons/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3104" y="2482596"/>
            <a:ext cx="182880" cy="201168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9034272" y="1417320"/>
            <a:ext cx="257860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1016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26" name="Text 17"/>
          <p:cNvSpPr/>
          <p:nvPr/>
        </p:nvSpPr>
        <p:spPr>
          <a:xfrm>
            <a:off x="9217152" y="1527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DE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Shape 18"/>
          <p:cNvSpPr/>
          <p:nvPr/>
        </p:nvSpPr>
        <p:spPr>
          <a:xfrm>
            <a:off x="10927080" y="1581912"/>
            <a:ext cx="502920" cy="502920"/>
          </a:xfrm>
          <a:prstGeom prst="ellipse">
            <a:avLst/>
          </a:prstGeom>
          <a:solidFill>
            <a:srgbClr val="00B5A3"/>
          </a:solidFill>
          <a:ln/>
        </p:spPr>
      </p:sp>
      <p:pic>
        <p:nvPicPr>
          <p:cNvPr id="28" name="Image 7" descr="/home/claude/icons/bu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0237" y="1695069"/>
            <a:ext cx="276606" cy="276606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9217152" y="219456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Activate LED</a:t>
            </a:r>
            <a:endParaRPr lang="en-US" sz="1450" dirty="0"/>
          </a:p>
        </p:txBody>
      </p:sp>
      <p:sp>
        <p:nvSpPr>
          <p:cNvPr id="30" name="Text 20"/>
          <p:cNvSpPr/>
          <p:nvPr/>
        </p:nvSpPr>
        <p:spPr>
          <a:xfrm>
            <a:off x="9217152" y="2715768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Armed → LED turns ON as a visual alert</a:t>
            </a:r>
            <a:endParaRPr lang="en-US" sz="1150" dirty="0"/>
          </a:p>
        </p:txBody>
      </p:sp>
      <p:sp>
        <p:nvSpPr>
          <p:cNvPr id="31" name="Shape 21"/>
          <p:cNvSpPr/>
          <p:nvPr/>
        </p:nvSpPr>
        <p:spPr>
          <a:xfrm>
            <a:off x="640080" y="406908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0B1F3A"/>
          </a:solidFill>
          <a:ln/>
        </p:spPr>
      </p:sp>
      <p:sp>
        <p:nvSpPr>
          <p:cNvPr id="32" name="Text 22"/>
          <p:cNvSpPr/>
          <p:nvPr/>
        </p:nvSpPr>
        <p:spPr>
          <a:xfrm>
            <a:off x="868680" y="4069080"/>
            <a:ext cx="731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E5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33" name="Shape 23"/>
          <p:cNvSpPr/>
          <p:nvPr/>
        </p:nvSpPr>
        <p:spPr>
          <a:xfrm>
            <a:off x="1600200" y="4334256"/>
            <a:ext cx="530352" cy="530352"/>
          </a:xfrm>
          <a:prstGeom prst="ellipse">
            <a:avLst/>
          </a:prstGeom>
          <a:solidFill>
            <a:srgbClr val="00B5A3"/>
          </a:solidFill>
          <a:ln/>
        </p:spPr>
      </p:sp>
      <p:pic>
        <p:nvPicPr>
          <p:cNvPr id="34" name="Image 8" descr="/home/claude/icons/remo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9529" y="4453585"/>
            <a:ext cx="291694" cy="291694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2331720" y="420624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Control via Dashboard</a:t>
            </a:r>
            <a:endParaRPr lang="en-US" sz="1450" dirty="0"/>
          </a:p>
        </p:txBody>
      </p:sp>
      <p:sp>
        <p:nvSpPr>
          <p:cNvPr id="36" name="Text 25"/>
          <p:cNvSpPr/>
          <p:nvPr/>
        </p:nvSpPr>
        <p:spPr>
          <a:xfrm>
            <a:off x="5806440" y="4160520"/>
            <a:ext cx="5532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sends ARM or DISARM command — Armed mode activates monitoring; Disarmed mode suppresses alarm even if motion is detected</a:t>
            </a:r>
            <a:endParaRPr lang="en-US" sz="1250" dirty="0"/>
          </a:p>
        </p:txBody>
      </p:sp>
      <p:sp>
        <p:nvSpPr>
          <p:cNvPr id="38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 Leak Detection Workflow</a:t>
            </a:r>
            <a:endParaRPr lang="en-US" sz="3000" dirty="0"/>
          </a:p>
        </p:txBody>
      </p:sp>
      <p:pic>
        <p:nvPicPr>
          <p:cNvPr id="3" name="Image 0" descr="/home/claude/icons/esp32_mq2_wirin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221" y="3767328"/>
            <a:ext cx="4577190" cy="300837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417320"/>
            <a:ext cx="257860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1016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22960" y="1527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D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532888" y="1581912"/>
            <a:ext cx="502920" cy="502920"/>
          </a:xfrm>
          <a:prstGeom prst="ellipse">
            <a:avLst/>
          </a:prstGeom>
          <a:solidFill>
            <a:srgbClr val="E8562E"/>
          </a:solidFill>
          <a:ln/>
        </p:spPr>
      </p:sp>
      <p:pic>
        <p:nvPicPr>
          <p:cNvPr id="7" name="Image 1" descr="/home/claude/icons/g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6045" y="1695069"/>
            <a:ext cx="276606" cy="2766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219456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Gas Level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822960" y="2715768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MQ2 sensor  reads current gas concentration</a:t>
            </a:r>
            <a:endParaRPr lang="en-US" sz="1150" dirty="0"/>
          </a:p>
        </p:txBody>
      </p:sp>
      <p:pic>
        <p:nvPicPr>
          <p:cNvPr id="10" name="Image 2" descr="/home/claude/icons/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6976" y="2482596"/>
            <a:ext cx="182880" cy="2011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314700" y="1435238"/>
            <a:ext cx="257860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1016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3621024" y="1527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D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5330952" y="1581912"/>
            <a:ext cx="502920" cy="502920"/>
          </a:xfrm>
          <a:prstGeom prst="ellipse">
            <a:avLst/>
          </a:prstGeom>
          <a:solidFill>
            <a:srgbClr val="E8562E"/>
          </a:solidFill>
          <a:ln/>
        </p:spPr>
      </p:sp>
      <p:pic>
        <p:nvPicPr>
          <p:cNvPr id="14" name="Image 3" descr="/home/claude/icons/publi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4109" y="1695069"/>
            <a:ext cx="276606" cy="27660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21024" y="219456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Gas Level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3621024" y="2715768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publishes the current gas percentage to the broker</a:t>
            </a:r>
            <a:endParaRPr lang="en-US" sz="1150" dirty="0"/>
          </a:p>
        </p:txBody>
      </p:sp>
      <p:pic>
        <p:nvPicPr>
          <p:cNvPr id="17" name="Image 4" descr="/home/claude/icons/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2482596"/>
            <a:ext cx="182880" cy="201168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112764" y="1417320"/>
            <a:ext cx="257860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1016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19" name="Text 12"/>
          <p:cNvSpPr/>
          <p:nvPr/>
        </p:nvSpPr>
        <p:spPr>
          <a:xfrm>
            <a:off x="6419088" y="1527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D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8129016" y="1581912"/>
            <a:ext cx="502920" cy="502920"/>
          </a:xfrm>
          <a:prstGeom prst="ellipse">
            <a:avLst/>
          </a:prstGeom>
          <a:solidFill>
            <a:srgbClr val="E8562E"/>
          </a:solidFill>
          <a:ln/>
        </p:spPr>
      </p:sp>
      <p:pic>
        <p:nvPicPr>
          <p:cNvPr id="21" name="Image 5" descr="/home/claude/icons/ale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2173" y="1695069"/>
            <a:ext cx="276606" cy="27660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419088" y="219456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Check</a:t>
            </a:r>
            <a:endParaRPr lang="en-US" sz="1450" dirty="0"/>
          </a:p>
        </p:txBody>
      </p:sp>
      <p:sp>
        <p:nvSpPr>
          <p:cNvPr id="23" name="Text 15"/>
          <p:cNvSpPr/>
          <p:nvPr/>
        </p:nvSpPr>
        <p:spPr>
          <a:xfrm>
            <a:off x="6419088" y="2715768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evaluates: Has the safe limit been exceeded?</a:t>
            </a:r>
            <a:endParaRPr lang="en-US" sz="1150" dirty="0"/>
          </a:p>
        </p:txBody>
      </p:sp>
      <p:pic>
        <p:nvPicPr>
          <p:cNvPr id="24" name="Image 6" descr="/home/claude/icons/arr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3104" y="2482596"/>
            <a:ext cx="182880" cy="201168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8892540" y="1417320"/>
            <a:ext cx="257860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1016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26" name="Text 17"/>
          <p:cNvSpPr/>
          <p:nvPr/>
        </p:nvSpPr>
        <p:spPr>
          <a:xfrm>
            <a:off x="9217152" y="15270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D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Shape 18"/>
          <p:cNvSpPr/>
          <p:nvPr/>
        </p:nvSpPr>
        <p:spPr>
          <a:xfrm>
            <a:off x="10927080" y="1581912"/>
            <a:ext cx="502920" cy="502920"/>
          </a:xfrm>
          <a:prstGeom prst="ellipse">
            <a:avLst/>
          </a:prstGeom>
          <a:solidFill>
            <a:srgbClr val="E8562E"/>
          </a:solidFill>
          <a:ln/>
        </p:spPr>
      </p:sp>
      <p:pic>
        <p:nvPicPr>
          <p:cNvPr id="28" name="Image 7" descr="/home/claude/icons/bel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0237" y="1695069"/>
            <a:ext cx="276606" cy="276606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9217152" y="2194560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 Activated</a:t>
            </a:r>
            <a:endParaRPr lang="en-US" sz="1450" dirty="0"/>
          </a:p>
        </p:txBody>
      </p:sp>
      <p:sp>
        <p:nvSpPr>
          <p:cNvPr id="30" name="Text 20"/>
          <p:cNvSpPr/>
          <p:nvPr/>
        </p:nvSpPr>
        <p:spPr>
          <a:xfrm>
            <a:off x="9217152" y="2715768"/>
            <a:ext cx="22128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threshold exceeded → LED turns ON as a dual visual/audible alarm</a:t>
            </a:r>
            <a:endParaRPr lang="en-US" sz="1150" dirty="0"/>
          </a:p>
        </p:txBody>
      </p:sp>
      <p:pic>
        <p:nvPicPr>
          <p:cNvPr id="34" name="Image 8" descr="/home/claude/icons/remo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229" y="4578387"/>
            <a:ext cx="299294" cy="101036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06793" y="4207599"/>
            <a:ext cx="3471431" cy="6761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Alarm Reset</a:t>
            </a:r>
            <a:endParaRPr lang="en-US" sz="1450" dirty="0"/>
          </a:p>
        </p:txBody>
      </p:sp>
      <p:sp>
        <p:nvSpPr>
          <p:cNvPr id="38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MQTT Protocol — Gas Leak Detector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1016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96112" y="1307592"/>
            <a:ext cx="548640" cy="548640"/>
          </a:xfrm>
          <a:prstGeom prst="ellipse">
            <a:avLst/>
          </a:prstGeom>
          <a:solidFill>
            <a:srgbClr val="E8562E"/>
          </a:solidFill>
          <a:ln/>
        </p:spPr>
      </p:sp>
      <p:pic>
        <p:nvPicPr>
          <p:cNvPr id="5" name="Image 0" descr="/home/claude/icons/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1431036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23444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 Alert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00200" y="1645920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gas concentration exceeds the pre-defined value in the code 2000, the LED activates immediately as a dual visual and audible alarm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05156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1016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19672" y="1307592"/>
            <a:ext cx="548640" cy="548640"/>
          </a:xfrm>
          <a:prstGeom prst="ellipse">
            <a:avLst/>
          </a:prstGeom>
          <a:solidFill>
            <a:srgbClr val="00B5A3"/>
          </a:solidFill>
          <a:ln/>
        </p:spPr>
      </p:sp>
      <p:pic>
        <p:nvPicPr>
          <p:cNvPr id="10" name="Image 1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431036"/>
            <a:ext cx="301752" cy="3017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23444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Manual Reset Required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223760" y="1645920"/>
            <a:ext cx="4069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alarm control is handled remotely via the Dashboard, allowing monitoring and control from any internet-connected location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3063240"/>
            <a:ext cx="10881360" cy="54864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063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977640" y="30632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355080" y="30632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40080" y="3611880"/>
            <a:ext cx="1088136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8680" y="36118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gas/value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977640" y="3735324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8562E"/>
          </a:solidFill>
          <a:ln/>
        </p:spPr>
      </p:sp>
      <p:sp>
        <p:nvSpPr>
          <p:cNvPr id="20" name="Text 16"/>
          <p:cNvSpPr/>
          <p:nvPr/>
        </p:nvSpPr>
        <p:spPr>
          <a:xfrm>
            <a:off x="3977640" y="373532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355080" y="361188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gas level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40080" y="4206240"/>
            <a:ext cx="10881360" cy="594360"/>
          </a:xfrm>
          <a:prstGeom prst="rect">
            <a:avLst/>
          </a:prstGeom>
          <a:solidFill>
            <a:srgbClr val="EFF3F8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68680" y="42062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gas/alarm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3977640" y="4329684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00B5A3"/>
          </a:solidFill>
          <a:ln/>
        </p:spPr>
      </p:sp>
      <p:sp>
        <p:nvSpPr>
          <p:cNvPr id="25" name="Text 21"/>
          <p:cNvSpPr/>
          <p:nvPr/>
        </p:nvSpPr>
        <p:spPr>
          <a:xfrm>
            <a:off x="3977640" y="43296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355080" y="42062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ON/OFF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40080" y="4800600"/>
            <a:ext cx="108813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9F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68680" y="480060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gas/status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3977640" y="4992624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8562E"/>
          </a:solidFill>
          <a:ln/>
        </p:spPr>
      </p:sp>
      <p:sp>
        <p:nvSpPr>
          <p:cNvPr id="30" name="Text 26"/>
          <p:cNvSpPr/>
          <p:nvPr/>
        </p:nvSpPr>
        <p:spPr>
          <a:xfrm>
            <a:off x="3977640" y="499262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6355080" y="480060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leak detected/system safe/alarm disabled</a:t>
            </a:r>
            <a:endParaRPr lang="en-US" sz="1250" dirty="0"/>
          </a:p>
        </p:txBody>
      </p:sp>
      <p:sp>
        <p:nvSpPr>
          <p:cNvPr id="33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 Circuit Diagram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hardware setup connects the ESP32 microcontroller to both the MQ2 gas sensor and the PIR motion sensor, with two LED indicators (red and yellow) protected by resistors.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163928" y="1920240"/>
            <a:ext cx="78638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/home/claude/icons/combined_circui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982" y="2194560"/>
            <a:ext cx="5975732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C8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70432" y="1600200"/>
            <a:ext cx="0" cy="4663440"/>
          </a:xfrm>
          <a:prstGeom prst="line">
            <a:avLst/>
          </a:prstGeom>
          <a:noFill/>
          <a:ln w="25400">
            <a:solidFill>
              <a:srgbClr val="E4E9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17320"/>
            <a:ext cx="777240" cy="777240"/>
          </a:xfrm>
          <a:prstGeom prst="ellipse">
            <a:avLst/>
          </a:prstGeom>
          <a:solidFill>
            <a:srgbClr val="00B5A3"/>
          </a:solidFill>
          <a:ln/>
        </p:spPr>
      </p:sp>
      <p:pic>
        <p:nvPicPr>
          <p:cNvPr id="5" name="Image 0" descr="/home/claude/icons/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1603858"/>
            <a:ext cx="404165" cy="40416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920240" y="1444752"/>
            <a:ext cx="9601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76200" dist="25400" dir="5400000" algn="bl" rotWithShape="0">
              <a:srgbClr val="1B2A44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194560" y="1444752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PIR Motion Sensor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349240" y="1444752"/>
            <a:ext cx="5989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movement → publishes via MQTT → triggers Red LED alert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" y="2386584"/>
            <a:ext cx="777240" cy="777240"/>
          </a:xfrm>
          <a:prstGeom prst="ellipse">
            <a:avLst/>
          </a:prstGeom>
          <a:solidFill>
            <a:srgbClr val="E8562E"/>
          </a:solidFill>
          <a:ln/>
        </p:spPr>
      </p:sp>
      <p:pic>
        <p:nvPicPr>
          <p:cNvPr id="10" name="Image 1" descr="/home/claude/icons/g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8" y="2573122"/>
            <a:ext cx="404165" cy="40416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920240" y="2414016"/>
            <a:ext cx="9601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76200" dist="25400" dir="5400000" algn="bl" rotWithShape="0">
              <a:srgbClr val="1B2A44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194560" y="2414016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MQ2 Gas Sensor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349240" y="2414016"/>
            <a:ext cx="5989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gas level → publishes via MQTT → triggers Yellow LED alarm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77240" y="3355848"/>
            <a:ext cx="777240" cy="77724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5" name="Image 2" descr="/home/claude/icons/ch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78" y="3542386"/>
            <a:ext cx="404165" cy="40416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920240" y="3383280"/>
            <a:ext cx="9601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76200" dist="25400" dir="5400000" algn="bl" rotWithShape="0">
              <a:srgbClr val="1B2A44">
                <a:alpha val="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2194560" y="3383280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 Microcontroller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349240" y="3383280"/>
            <a:ext cx="5989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 connecting all sensors to the network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77240" y="4325112"/>
            <a:ext cx="777240" cy="777240"/>
          </a:xfrm>
          <a:prstGeom prst="ellipse">
            <a:avLst/>
          </a:prstGeom>
          <a:solidFill>
            <a:srgbClr val="3E6FB0"/>
          </a:solidFill>
          <a:ln/>
        </p:spPr>
      </p:sp>
      <p:pic>
        <p:nvPicPr>
          <p:cNvPr id="20" name="Image 3" descr="/home/claude/icons/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778" y="4511650"/>
            <a:ext cx="404165" cy="404165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1920240" y="4352544"/>
            <a:ext cx="9601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76200" dist="25400" dir="5400000" algn="bl" rotWithShape="0">
              <a:srgbClr val="1B2A44">
                <a:alpha val="8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2194560" y="4352544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Node-RED Dashboard (MQTT)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349240" y="4352544"/>
            <a:ext cx="5989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all publish/subscribe messages between device and dashboard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777240" y="5294376"/>
            <a:ext cx="777240" cy="777240"/>
          </a:xfrm>
          <a:prstGeom prst="ellipse">
            <a:avLst/>
          </a:prstGeom>
          <a:solidFill>
            <a:srgbClr val="6C4FA0"/>
          </a:solidFill>
          <a:ln/>
        </p:spPr>
      </p:sp>
      <p:pic>
        <p:nvPicPr>
          <p:cNvPr id="25" name="Image 4" descr="/home/claude/icons/pho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778" y="5480914"/>
            <a:ext cx="404165" cy="404165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1920240" y="5321808"/>
            <a:ext cx="9601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blurRad="76200" dist="25400" dir="5400000" algn="bl" rotWithShape="0">
              <a:srgbClr val="1B2A44">
                <a:alpha val="8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2194560" y="5321808"/>
            <a:ext cx="3017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 / Control Panel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349240" y="5321808"/>
            <a:ext cx="5989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access to system status and controls from any device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</TotalTime>
  <Words>574</Words>
  <Application>Microsoft Office PowerPoint</Application>
  <PresentationFormat>Widescreen</PresentationFormat>
  <Paragraphs>114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Eman Gamil</cp:lastModifiedBy>
  <cp:revision>4</cp:revision>
  <dcterms:created xsi:type="dcterms:W3CDTF">2026-07-24T18:50:03Z</dcterms:created>
  <dcterms:modified xsi:type="dcterms:W3CDTF">2026-07-25T09:30:12Z</dcterms:modified>
</cp:coreProperties>
</file>